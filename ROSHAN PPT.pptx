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4"/>
  </p:notesMasterIdLst>
  <p:sldIdLst>
    <p:sldId id="263" r:id="rId3"/>
    <p:sldId id="280" r:id="rId4"/>
    <p:sldId id="264" r:id="rId5"/>
    <p:sldId id="265" r:id="rId6"/>
    <p:sldId id="277" r:id="rId7"/>
    <p:sldId id="269" r:id="rId8"/>
    <p:sldId id="270" r:id="rId9"/>
    <p:sldId id="272" r:id="rId10"/>
    <p:sldId id="279" r:id="rId11"/>
    <p:sldId id="275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72AABE-BEBC-43F8-892E-3C881BBE2885}">
          <p14:sldIdLst>
            <p14:sldId id="263"/>
            <p14:sldId id="280"/>
            <p14:sldId id="264"/>
            <p14:sldId id="265"/>
            <p14:sldId id="277"/>
            <p14:sldId id="269"/>
            <p14:sldId id="270"/>
            <p14:sldId id="272"/>
            <p14:sldId id="279"/>
            <p14:sldId id="275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A9749"/>
    <a:srgbClr val="632523"/>
    <a:srgbClr val="EEECE1"/>
    <a:srgbClr val="FAFAFA"/>
    <a:srgbClr val="FFFFCC"/>
    <a:srgbClr val="FFFFFF"/>
    <a:srgbClr val="5B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2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shek Shivaswamy" userId="86d7c246029051df" providerId="LiveId" clId="{EC84AC3E-40DD-475C-8396-E4D249618CD7}"/>
    <pc:docChg chg="modSld">
      <pc:chgData name="Abhishek Shivaswamy" userId="86d7c246029051df" providerId="LiveId" clId="{EC84AC3E-40DD-475C-8396-E4D249618CD7}" dt="2025-02-07T05:22:43.700" v="0" actId="20577"/>
      <pc:docMkLst>
        <pc:docMk/>
      </pc:docMkLst>
      <pc:sldChg chg="modSp mod">
        <pc:chgData name="Abhishek Shivaswamy" userId="86d7c246029051df" providerId="LiveId" clId="{EC84AC3E-40DD-475C-8396-E4D249618CD7}" dt="2025-02-07T05:22:43.700" v="0" actId="20577"/>
        <pc:sldMkLst>
          <pc:docMk/>
          <pc:sldMk cId="0" sldId="264"/>
        </pc:sldMkLst>
        <pc:spChg chg="mod">
          <ac:chgData name="Abhishek Shivaswamy" userId="86d7c246029051df" providerId="LiveId" clId="{EC84AC3E-40DD-475C-8396-E4D249618CD7}" dt="2025-02-07T05:22:43.700" v="0" actId="20577"/>
          <ac:spMkLst>
            <pc:docMk/>
            <pc:sldMk cId="0" sldId="26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EB542-D87F-482D-A7FF-4601A0EF413B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2B07B5-2230-4BA0-B62F-6320918FF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67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2B07B5-2230-4BA0-B62F-6320918FF3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48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05-02-2025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Faculty of Engineering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DC911C-A319-4FC6-9017-944A3A3C776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50505" y="1072578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xmlns="" id="{E218EFDF-FA19-2E24-3B90-31C017644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3074" y="1338531"/>
            <a:ext cx="7948593" cy="20618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B.TECH IN CSE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Retail Customer Segmentation Using Purchase </a:t>
            </a:r>
            <a:r>
              <a:rPr lang="en-US" sz="32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Behaviour</a:t>
            </a:r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 </a:t>
            </a:r>
            <a:r>
              <a:rPr lang="en-IN" sz="3200" b="1" dirty="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32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xmlns="" id="{4902ACBB-D2BF-D229-A02A-094762454B67}"/>
              </a:ext>
            </a:extLst>
          </p:cNvPr>
          <p:cNvSpPr/>
          <p:nvPr/>
        </p:nvSpPr>
        <p:spPr>
          <a:xfrm>
            <a:off x="0" y="4317"/>
            <a:ext cx="12192000" cy="1122364"/>
          </a:xfrm>
          <a:prstGeom prst="rect">
            <a:avLst/>
          </a:prstGeom>
          <a:solidFill>
            <a:srgbClr val="5B1F1F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44FBBBD3-CAF3-864D-4D07-17D1ACA8B77B}"/>
              </a:ext>
            </a:extLst>
          </p:cNvPr>
          <p:cNvSpPr txBox="1"/>
          <p:nvPr/>
        </p:nvSpPr>
        <p:spPr>
          <a:xfrm>
            <a:off x="1604869" y="8589"/>
            <a:ext cx="89571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dirty="0">
                <a:solidFill>
                  <a:srgbClr val="CA9749"/>
                </a:solidFill>
                <a:latin typeface="Bodoni MT" panose="02070603080606020203" pitchFamily="18" charset="0"/>
                <a:cs typeface="Aldhabi" panose="020F0502020204030204" pitchFamily="2" charset="-78"/>
              </a:rPr>
              <a:t>RAI TECHNOLOGY UNIVERSITY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E5C9F226-44E6-104A-9996-16AE0B20DA9F}"/>
              </a:ext>
            </a:extLst>
          </p:cNvPr>
          <p:cNvSpPr txBox="1"/>
          <p:nvPr/>
        </p:nvSpPr>
        <p:spPr>
          <a:xfrm>
            <a:off x="4881665" y="560790"/>
            <a:ext cx="25957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A9749"/>
                </a:solidFill>
                <a:latin typeface="Bodoni MT" panose="02070603080606020203" pitchFamily="18" charset="0"/>
                <a:cs typeface="Aldhabi" panose="020F0502020204030204" pitchFamily="2" charset="-78"/>
              </a:rPr>
              <a:t>BANGALURU</a:t>
            </a:r>
            <a:endParaRPr lang="en-US" sz="28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3A41AB14-4B57-B571-6146-0014C34FFFC0}"/>
              </a:ext>
            </a:extLst>
          </p:cNvPr>
          <p:cNvSpPr/>
          <p:nvPr/>
        </p:nvSpPr>
        <p:spPr>
          <a:xfrm rot="10800000">
            <a:off x="0" y="6292500"/>
            <a:ext cx="12192000" cy="59978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7CBA4972-C040-9FB8-7DF7-19B4F4C1099C}"/>
              </a:ext>
            </a:extLst>
          </p:cNvPr>
          <p:cNvSpPr txBox="1"/>
          <p:nvPr/>
        </p:nvSpPr>
        <p:spPr>
          <a:xfrm>
            <a:off x="550505" y="3872851"/>
            <a:ext cx="112580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                                                              Submitted To:</a:t>
            </a:r>
          </a:p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ROSHAN ZAMEER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Abhishek S           </a:t>
            </a:r>
          </a:p>
          <a:p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RTU24101CS035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         Project Guide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9E2DA7-D028-B371-75D2-9B910C17D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xmlns="" id="{9D852AB0-C24A-AA13-CFCF-6C65D1CCFFAC}"/>
              </a:ext>
            </a:extLst>
          </p:cNvPr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6EA21AD-3AD3-5D2F-549E-BC5827DAF4BB}"/>
              </a:ext>
            </a:extLst>
          </p:cNvPr>
          <p:cNvSpPr/>
          <p:nvPr/>
        </p:nvSpPr>
        <p:spPr>
          <a:xfrm rot="5400000">
            <a:off x="-3195488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29CEBD60-EA0E-8E3B-99B9-414B1EF12046}"/>
              </a:ext>
            </a:extLst>
          </p:cNvPr>
          <p:cNvSpPr/>
          <p:nvPr/>
        </p:nvSpPr>
        <p:spPr>
          <a:xfrm>
            <a:off x="550505" y="1072578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CD98C2D6-9C6D-3C93-1A16-331577C6A5BA}"/>
              </a:ext>
            </a:extLst>
          </p:cNvPr>
          <p:cNvSpPr/>
          <p:nvPr/>
        </p:nvSpPr>
        <p:spPr>
          <a:xfrm>
            <a:off x="0" y="47882"/>
            <a:ext cx="1219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CONTENT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9FA4375-32FA-D0AF-F7A9-9003AA57728E}"/>
              </a:ext>
            </a:extLst>
          </p:cNvPr>
          <p:cNvSpPr/>
          <p:nvPr/>
        </p:nvSpPr>
        <p:spPr>
          <a:xfrm>
            <a:off x="746448" y="998375"/>
            <a:ext cx="6044613" cy="45391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Literature Survey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Solution and Methodology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 Development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Scalability&amp; Performance analysis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</a:p>
        </p:txBody>
      </p:sp>
    </p:spTree>
    <p:extLst>
      <p:ext uri="{BB962C8B-B14F-4D97-AF65-F5344CB8AC3E}">
        <p14:creationId xmlns:p14="http://schemas.microsoft.com/office/powerpoint/2010/main" val="1184406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 rot="10800000">
            <a:off x="10588751" y="-4"/>
            <a:ext cx="1603245" cy="1252731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50505" y="1072578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807" y="213122"/>
            <a:ext cx="1219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US" sz="36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67833" y="984263"/>
            <a:ext cx="11724167" cy="4184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dirty="0"/>
              <a:t>Retail businesses generate large amounts of customer transaction data through their purchasing activities. </a:t>
            </a:r>
            <a:r>
              <a:rPr lang="en-US" sz="3200" dirty="0" err="1"/>
              <a:t>Analysing</a:t>
            </a:r>
            <a:r>
              <a:rPr lang="en-US" sz="3200" dirty="0"/>
              <a:t> this data helps businesses understand customer </a:t>
            </a:r>
            <a:r>
              <a:rPr lang="en-US" sz="3200" dirty="0" err="1"/>
              <a:t>behaviour</a:t>
            </a:r>
            <a:r>
              <a:rPr lang="en-US" sz="3200" dirty="0"/>
              <a:t> and identify different customer </a:t>
            </a:r>
            <a:r>
              <a:rPr lang="en-US" sz="3200" dirty="0" err="1" smtClean="0"/>
              <a:t>groups.Customer</a:t>
            </a:r>
            <a:r>
              <a:rPr lang="en-US" sz="3200" dirty="0" smtClean="0"/>
              <a:t> </a:t>
            </a:r>
            <a:r>
              <a:rPr lang="en-US" sz="3200" dirty="0"/>
              <a:t>segmentation divides customers into groups based on similarities in their purchasing </a:t>
            </a:r>
            <a:r>
              <a:rPr lang="en-US" sz="3200" dirty="0" err="1" smtClean="0"/>
              <a:t>patterns.This</a:t>
            </a:r>
            <a:r>
              <a:rPr lang="en-US" sz="3200" dirty="0" smtClean="0"/>
              <a:t> </a:t>
            </a:r>
            <a:r>
              <a:rPr lang="en-US" sz="3200" dirty="0"/>
              <a:t>project applies machine learning clustering techniques such as K-Means, Hierarchical Clustering, and DBSCAN to identify meaningful customer segments.</a:t>
            </a:r>
          </a:p>
          <a:p>
            <a:r>
              <a:rPr lang="en-US" sz="3200" dirty="0"/>
              <a:t>The system uses customer-level features such as Number of Orders, Total Quantity, Total Spending, and Average Order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 rot="10800000">
            <a:off x="10521729" y="32134"/>
            <a:ext cx="1667252" cy="1390262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50505" y="1072578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275357"/>
            <a:ext cx="1219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42248" y="1791478"/>
            <a:ext cx="10213107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41579" y="964576"/>
            <a:ext cx="11750421" cy="4010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dirty="0"/>
              <a:t>Retail transaction datasets contain large amounts of customer purchase information, making manual analysis difficult.</a:t>
            </a:r>
          </a:p>
          <a:p>
            <a:r>
              <a:rPr lang="en-US" sz="3200" dirty="0"/>
              <a:t>Traditional customer grouping methods may not effectively identify hidden purchasing patterns</a:t>
            </a:r>
            <a:r>
              <a:rPr lang="en-US" sz="3200" dirty="0" smtClean="0"/>
              <a:t>.</a:t>
            </a:r>
          </a:p>
          <a:p>
            <a:endParaRPr lang="en-US" sz="3200" dirty="0" smtClean="0"/>
          </a:p>
          <a:p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414682" y="3063017"/>
            <a:ext cx="1183046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The major challenges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Difficulty in identifying different customer </a:t>
            </a:r>
            <a:r>
              <a:rPr lang="en-US" sz="3200" dirty="0" err="1"/>
              <a:t>behaviour</a:t>
            </a:r>
            <a:r>
              <a:rPr lang="en-US" sz="3200" dirty="0"/>
              <a:t>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Large volume of transaction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Lack of automated customer segmentation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Difficulty in identifying high-value and low-value customers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Need for an interactive system for </a:t>
            </a:r>
            <a:r>
              <a:rPr lang="en-US" sz="3200" dirty="0" err="1"/>
              <a:t>analysing</a:t>
            </a:r>
            <a:r>
              <a:rPr lang="en-US" sz="3200" dirty="0"/>
              <a:t> segmentation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-3195488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50505" y="1072578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808" y="204172"/>
            <a:ext cx="1219280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r>
              <a:rPr lang="en-US" sz="36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42248" y="1791478"/>
            <a:ext cx="10213107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49703" y="886600"/>
            <a:ext cx="11483801" cy="3907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 smtClean="0"/>
              <a:t>K-Means </a:t>
            </a:r>
            <a:r>
              <a:rPr lang="en-US" sz="2800" b="1" dirty="0"/>
              <a:t>Clustering</a:t>
            </a:r>
            <a:endParaRPr lang="en-US" sz="2800" dirty="0"/>
          </a:p>
          <a:p>
            <a:r>
              <a:rPr lang="en-US" sz="2800" dirty="0"/>
              <a:t>K-Means is widely used for customer segmentation by grouping customers according to similarity and distance from cluster centroids.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Hierarchical </a:t>
            </a:r>
            <a:r>
              <a:rPr lang="en-US" sz="2800" b="1" dirty="0"/>
              <a:t>Clustering</a:t>
            </a:r>
            <a:endParaRPr lang="en-US" sz="2800" dirty="0"/>
          </a:p>
          <a:p>
            <a:r>
              <a:rPr lang="en-US" sz="2800" dirty="0"/>
              <a:t>Hierarchical clustering creates groups based on similarity between observations and provides a hierarchical representation of customer groups.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DBSCAN</a:t>
            </a:r>
            <a:endParaRPr lang="en-US" sz="2800" dirty="0"/>
          </a:p>
          <a:p>
            <a:r>
              <a:rPr lang="en-US" sz="2800" dirty="0"/>
              <a:t>DBSCAN is a density-based clustering algorithm capable of identifying clusters and unusual observations or noise points.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50505" y="1072578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298022" y="395851"/>
            <a:ext cx="1101945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SOLOUTION AND METHODOLOGY</a:t>
            </a:r>
            <a:endParaRPr lang="en-US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endParaRPr lang="en-US" sz="3600" b="1" dirty="0">
              <a:solidFill>
                <a:srgbClr val="C0000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2248" y="1791478"/>
            <a:ext cx="10213107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550503" y="1195707"/>
            <a:ext cx="11216640" cy="5662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 dirty="0"/>
              <a:t>Retail Customer Segmentation System</a:t>
            </a:r>
          </a:p>
          <a:p>
            <a:r>
              <a:rPr lang="en-US" sz="2000" dirty="0"/>
              <a:t>The proposed system follows the following process:</a:t>
            </a:r>
          </a:p>
          <a:p>
            <a:r>
              <a:rPr lang="en-US" sz="2000" b="1" dirty="0"/>
              <a:t>Data Collection → Data Preprocessing → Feature Engineering → Feature Scaling → Clustering → Model Evaluation → Customer Segmentation → Web Application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Algorithms </a:t>
            </a:r>
            <a:r>
              <a:rPr lang="en-US" sz="2000" b="1" dirty="0"/>
              <a:t>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K-Means Clustering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Hierarchical Clustering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DBSCAN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Features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Number of Orders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Total Quantity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Total Spending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Average Order </a:t>
            </a:r>
            <a:r>
              <a:rPr lang="en-US" sz="2000" dirty="0" smtClean="0"/>
              <a:t>Value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 rot="10800000">
            <a:off x="10341863" y="-3"/>
            <a:ext cx="1850134" cy="147002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50505" y="1072578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42248" y="1791478"/>
            <a:ext cx="10213107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401216"/>
            <a:ext cx="1219280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DEVELOPMENT</a:t>
            </a:r>
            <a:r>
              <a:rPr lang="en-US" sz="3600" b="1" dirty="0">
                <a:solidFill>
                  <a:srgbClr val="C0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49702" y="1121137"/>
            <a:ext cx="11465514" cy="53879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Online Retail dataset</a:t>
            </a:r>
            <a:r>
              <a:rPr lang="en-US" sz="2400" dirty="0"/>
              <a:t> was used for developing the customer segmentation system.</a:t>
            </a:r>
          </a:p>
          <a:p>
            <a:r>
              <a:rPr lang="en-US" sz="2400" b="1" dirty="0"/>
              <a:t>Data Processing</a:t>
            </a:r>
          </a:p>
          <a:p>
            <a:r>
              <a:rPr lang="en-US" sz="2400" dirty="0"/>
              <a:t>Original records: </a:t>
            </a:r>
            <a:r>
              <a:rPr lang="en-US" sz="2400" b="1" dirty="0"/>
              <a:t>541,909</a:t>
            </a:r>
            <a:endParaRPr lang="en-US" sz="2400" dirty="0"/>
          </a:p>
          <a:p>
            <a:r>
              <a:rPr lang="en-US" sz="2400" dirty="0"/>
              <a:t>Processed records: </a:t>
            </a:r>
            <a:r>
              <a:rPr lang="en-US" sz="2400" b="1" dirty="0"/>
              <a:t>392,692</a:t>
            </a:r>
            <a:endParaRPr lang="en-US" sz="2400" dirty="0"/>
          </a:p>
          <a:p>
            <a:r>
              <a:rPr lang="en-US" sz="2400" dirty="0"/>
              <a:t>Customers identified: </a:t>
            </a:r>
            <a:r>
              <a:rPr lang="en-US" sz="2400" b="1" dirty="0"/>
              <a:t>4,338</a:t>
            </a:r>
            <a:endParaRPr lang="en-US" sz="2400" dirty="0"/>
          </a:p>
          <a:p>
            <a:r>
              <a:rPr lang="en-US" sz="2400" b="1" dirty="0"/>
              <a:t>Preprocessing</a:t>
            </a:r>
          </a:p>
          <a:p>
            <a:r>
              <a:rPr lang="en-US" sz="2400" dirty="0"/>
              <a:t>Removed missing </a:t>
            </a:r>
            <a:r>
              <a:rPr lang="en-US" sz="2400" dirty="0" err="1"/>
              <a:t>CustomerID</a:t>
            </a:r>
            <a:r>
              <a:rPr lang="en-US" sz="2400" dirty="0"/>
              <a:t> records</a:t>
            </a:r>
          </a:p>
          <a:p>
            <a:r>
              <a:rPr lang="en-US" sz="2400" dirty="0"/>
              <a:t>Removed cancelled invoices</a:t>
            </a:r>
          </a:p>
          <a:p>
            <a:r>
              <a:rPr lang="en-US" sz="2400" dirty="0"/>
              <a:t>Removed invalid quantities and prices</a:t>
            </a:r>
          </a:p>
          <a:p>
            <a:r>
              <a:rPr lang="en-US" sz="2400" dirty="0"/>
              <a:t>Removed duplicate records</a:t>
            </a:r>
          </a:p>
          <a:p>
            <a:r>
              <a:rPr lang="en-US" sz="2400" dirty="0"/>
              <a:t>Calculated total transaction amount</a:t>
            </a:r>
          </a:p>
          <a:p>
            <a:r>
              <a:rPr lang="en-US" sz="2400" dirty="0"/>
              <a:t>Aggregated transactions at customer level</a:t>
            </a:r>
          </a:p>
          <a:p>
            <a:r>
              <a:rPr lang="en-US" sz="2400" dirty="0"/>
              <a:t>Applied feature scaling</a:t>
            </a:r>
          </a:p>
          <a:p>
            <a:r>
              <a:rPr lang="en-US" sz="2400" dirty="0"/>
              <a:t>The processed customer data was used to train the clustering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50505" y="1072578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42248" y="1791478"/>
            <a:ext cx="10213107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Text 0"/>
          <p:cNvSpPr/>
          <p:nvPr/>
        </p:nvSpPr>
        <p:spPr>
          <a:xfrm>
            <a:off x="2595998" y="263538"/>
            <a:ext cx="9678670" cy="22644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5050"/>
              </a:lnSpc>
              <a:buNone/>
            </a:pPr>
            <a:r>
              <a:rPr lang="en-US" altLang="en-US" sz="2800" b="1" dirty="0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Federated Learning Training Accuracy </a:t>
            </a:r>
            <a:r>
              <a:rPr lang="en-US" altLang="en-US" sz="2800" b="1" dirty="0" smtClean="0">
                <a:solidFill>
                  <a:srgbClr val="C0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endParaRPr lang="en-US" altLang="en-US" sz="2800" b="1" dirty="0">
              <a:solidFill>
                <a:srgbClr val="C0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948833" y="1718909"/>
            <a:ext cx="7190603" cy="4936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50505" y="1072578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-551305" y="427418"/>
            <a:ext cx="12192800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SCALABILITY &amp; PERFORMANCE ANALYSIS</a:t>
            </a:r>
            <a:endParaRPr lang="en-US" sz="3600" b="1" dirty="0">
              <a:solidFill>
                <a:srgbClr val="C00000"/>
              </a:solidFill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117092" y="1717738"/>
            <a:ext cx="9992868" cy="34029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/>
        </p:nvSpPr>
        <p:spPr>
          <a:xfrm rot="10800000">
            <a:off x="9813851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-3195487" y="3194682"/>
            <a:ext cx="6858000" cy="468639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50503" y="846771"/>
            <a:ext cx="116414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5831" y="277059"/>
            <a:ext cx="110194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 </a:t>
            </a:r>
            <a:endParaRPr lang="en-US" sz="4000" b="1" dirty="0">
              <a:solidFill>
                <a:srgbClr val="C00000"/>
              </a:solidFill>
              <a:latin typeface="Times New Roman" panose="02020603050405020304" pitchFamily="18" charset="0"/>
              <a:ea typeface="Calibri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42248" y="1791478"/>
            <a:ext cx="10213107" cy="568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0573" y="923390"/>
            <a:ext cx="1084478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 project successfully developed a machine learning-based system for Retail Customer Segmentation Using Purchase </a:t>
            </a:r>
            <a:r>
              <a:rPr lang="en-US" sz="2800" dirty="0" err="1"/>
              <a:t>Behaviour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The Online Retail dataset was processed to generate meaningful customer-level purchasing features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Three clustering algorithms, K-Means, Hierarchical Clustering, and DBSCAN, were implemented and evaluated using silhouette scores</a:t>
            </a:r>
            <a:r>
              <a:rPr lang="en-US" sz="2800" dirty="0" smtClean="0"/>
              <a:t>.</a:t>
            </a:r>
          </a:p>
          <a:p>
            <a:endParaRPr lang="en-US" sz="2800" dirty="0"/>
          </a:p>
          <a:p>
            <a:r>
              <a:rPr lang="en-US" sz="2800" dirty="0"/>
              <a:t>The resulting clusters were interpreted into meaningful customer segments based on purchasing </a:t>
            </a:r>
            <a:r>
              <a:rPr lang="en-US" sz="2800" dirty="0" err="1"/>
              <a:t>behaviour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rot="5400000">
            <a:off x="-3195486" y="3194681"/>
            <a:ext cx="6858000" cy="468638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467833" y="3429000"/>
            <a:ext cx="11724167" cy="830997"/>
          </a:xfrm>
          <a:prstGeom prst="rect">
            <a:avLst/>
          </a:prstGeom>
          <a:solidFill>
            <a:srgbClr val="632523"/>
          </a:solidFill>
          <a:ln>
            <a:solidFill>
              <a:srgbClr val="6325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518637" y="3429000"/>
            <a:ext cx="56225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rgbClr val="CA9749"/>
                </a:solidFill>
                <a:latin typeface="Lucida Handwriting" panose="03010101010101010101" pitchFamily="66" charset="0"/>
                <a:cs typeface="Cavolini" panose="020B0502040204020203" pitchFamily="66" charset="0"/>
              </a:rPr>
              <a:t>Thank you all</a:t>
            </a:r>
          </a:p>
        </p:txBody>
      </p:sp>
      <p:sp>
        <p:nvSpPr>
          <p:cNvPr id="13" name="Right Triangle 12"/>
          <p:cNvSpPr/>
          <p:nvPr/>
        </p:nvSpPr>
        <p:spPr>
          <a:xfrm rot="10800000">
            <a:off x="9813850" y="-3"/>
            <a:ext cx="2378147" cy="22647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5897</TotalTime>
  <Words>472</Words>
  <Application>Microsoft Office PowerPoint</Application>
  <PresentationFormat>Widescreen</PresentationFormat>
  <Paragraphs>98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Aldhabi</vt:lpstr>
      <vt:lpstr>Aptos</vt:lpstr>
      <vt:lpstr>Aptos Display</vt:lpstr>
      <vt:lpstr>Arial</vt:lpstr>
      <vt:lpstr>Bodoni MT</vt:lpstr>
      <vt:lpstr>Calibri</vt:lpstr>
      <vt:lpstr>Cavolini</vt:lpstr>
      <vt:lpstr>Lucida Handwriting</vt:lpstr>
      <vt:lpstr>Times New Roman</vt:lpstr>
      <vt:lpstr>Times New Roman Bold</vt:lpstr>
      <vt:lpstr>Wingdings</vt:lpstr>
      <vt:lpstr>Office Theme</vt:lpstr>
      <vt:lpstr>1_Office Theme</vt:lpstr>
      <vt:lpstr>B.TECH IN CSE “Retail Customer Segmentation Using Purchase Behaviour. 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Nagaraja, Bharath Kurki</dc:creator>
  <cp:lastModifiedBy>Microsoft account</cp:lastModifiedBy>
  <cp:revision>160</cp:revision>
  <dcterms:created xsi:type="dcterms:W3CDTF">2025-02-06T04:22:54Z</dcterms:created>
  <dcterms:modified xsi:type="dcterms:W3CDTF">2026-09-23T15:12:13Z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A3D6310EA75265D81E39A46775E3BB78_43</vt:lpwstr>
  </property>
  <property fmtid="{D5CDD505-2E9C-101B-9397-08002B2CF9AE}" pid="3" name="KSOProductBuildVer">
    <vt:lpwstr>1033-6.11.0.8615</vt:lpwstr>
  </property>
</Properties>
</file>